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43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24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6614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300" dirty="0">
                <a:solidFill>
                  <a:srgbClr val="00A896"/>
                </a:solidFill>
                <a:latin typeface="Biome" panose="020B0503030204020804" pitchFamily="34" charset="0"/>
                <a:ea typeface="Calibri" pitchFamily="34" charset="-122"/>
                <a:cs typeface="Biome" panose="020B0503030204020804" pitchFamily="34" charset="0"/>
              </a:rPr>
              <a:t>SOC TRIAGE CLASSIFIER</a:t>
            </a:r>
            <a:endParaRPr lang="en-US" sz="1400" dirty="0">
              <a:latin typeface="Biome" panose="020B05030302040208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FFFFFF"/>
                </a:solidFill>
                <a:latin typeface="Biome" panose="020B0503030204020804" pitchFamily="34" charset="0"/>
                <a:ea typeface="Cambria" pitchFamily="34" charset="-122"/>
                <a:cs typeface="Biome" panose="020B0503030204020804" pitchFamily="34" charset="0"/>
              </a:rPr>
              <a:t>Model Selection Justification</a:t>
            </a:r>
            <a:endParaRPr lang="en-US" sz="4400" dirty="0">
              <a:latin typeface="Biome" panose="020B05030302040208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35204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B0BE"/>
                </a:solidFill>
                <a:latin typeface="Biome" panose="020B0503030204020804" pitchFamily="34" charset="0"/>
                <a:ea typeface="Calibri" pitchFamily="34" charset="-122"/>
                <a:cs typeface="Biome" panose="020B0503030204020804" pitchFamily="34" charset="0"/>
              </a:rPr>
              <a:t>Comparing 7 classifiers across two independent evaluations to select the production fallback model</a:t>
            </a:r>
            <a:endParaRPr lang="en-US" sz="1500" dirty="0">
              <a:latin typeface="Biome" panose="020B05030302040208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461772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263444"/>
          </a:solidFill>
          <a:ln/>
        </p:spPr>
        <p:txBody>
          <a:bodyPr/>
          <a:lstStyle/>
          <a:p>
            <a:endParaRPr lang="en-US" dirty="0">
              <a:latin typeface="Biome" panose="020B05030302040208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47548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A896"/>
                </a:solidFill>
                <a:latin typeface="Biome" panose="020B0503030204020804" pitchFamily="34" charset="0"/>
                <a:ea typeface="Cambria" pitchFamily="34" charset="-122"/>
                <a:cs typeface="Biome" panose="020B0503030204020804" pitchFamily="34" charset="0"/>
              </a:rPr>
              <a:t>10,000</a:t>
            </a:r>
            <a:endParaRPr lang="en-US" sz="2800" dirty="0">
              <a:latin typeface="Biome" panose="020B05030302040208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53309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BE"/>
                </a:solidFill>
                <a:latin typeface="Biome" panose="020B0503030204020804" pitchFamily="34" charset="0"/>
                <a:ea typeface="Calibri" pitchFamily="34" charset="-122"/>
                <a:cs typeface="Biome" panose="020B0503030204020804" pitchFamily="34" charset="0"/>
              </a:rPr>
              <a:t>training tickets</a:t>
            </a:r>
            <a:endParaRPr lang="en-US" sz="1100" dirty="0">
              <a:latin typeface="Biome" panose="020B05030302040208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429000" y="461772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263444"/>
          </a:solidFill>
          <a:ln/>
        </p:spPr>
        <p:txBody>
          <a:bodyPr/>
          <a:lstStyle/>
          <a:p>
            <a:endParaRPr lang="en-US" dirty="0">
              <a:latin typeface="Biome" panose="020B05030302040208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429000" y="47548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A896"/>
                </a:solidFill>
                <a:latin typeface="Biome" panose="020B0503030204020804" pitchFamily="34" charset="0"/>
                <a:ea typeface="Cambria" pitchFamily="34" charset="-122"/>
                <a:cs typeface="Biome" panose="020B0503030204020804" pitchFamily="34" charset="0"/>
              </a:rPr>
              <a:t>17</a:t>
            </a:r>
            <a:endParaRPr lang="en-US" sz="2800" dirty="0">
              <a:latin typeface="Biome" panose="020B05030302040208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429000" y="53309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BE"/>
                </a:solidFill>
                <a:latin typeface="Biome" panose="020B0503030204020804" pitchFamily="34" charset="0"/>
                <a:ea typeface="Calibri" pitchFamily="34" charset="-122"/>
                <a:cs typeface="Biome" panose="020B0503030204020804" pitchFamily="34" charset="0"/>
              </a:rPr>
              <a:t>engineered features</a:t>
            </a:r>
            <a:endParaRPr lang="en-US" sz="1100" dirty="0">
              <a:latin typeface="Biome" panose="020B05030302040208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035040" y="461772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263444"/>
          </a:solidFill>
          <a:ln/>
        </p:spPr>
        <p:txBody>
          <a:bodyPr/>
          <a:lstStyle/>
          <a:p>
            <a:endParaRPr lang="en-US" dirty="0">
              <a:latin typeface="Biome" panose="020B05030302040208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035040" y="47548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A896"/>
                </a:solidFill>
                <a:latin typeface="Biome" panose="020B0503030204020804" pitchFamily="34" charset="0"/>
                <a:ea typeface="Cambria" pitchFamily="34" charset="-122"/>
                <a:cs typeface="Biome" panose="020B0503030204020804" pitchFamily="34" charset="0"/>
              </a:rPr>
              <a:t>7</a:t>
            </a:r>
            <a:endParaRPr lang="en-US" sz="2800" dirty="0">
              <a:latin typeface="Biome" panose="020B05030302040208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035040" y="53309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BE"/>
                </a:solidFill>
                <a:latin typeface="Biome" panose="020B0503030204020804" pitchFamily="34" charset="0"/>
                <a:ea typeface="Calibri" pitchFamily="34" charset="-122"/>
                <a:cs typeface="Biome" panose="020B0503030204020804" pitchFamily="34" charset="0"/>
              </a:rPr>
              <a:t>models compared</a:t>
            </a:r>
            <a:endParaRPr lang="en-US" sz="1100" dirty="0">
              <a:latin typeface="Biome" panose="020B05030302040208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641080" y="461772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263444"/>
          </a:solidFill>
          <a:ln/>
        </p:spPr>
        <p:txBody>
          <a:bodyPr/>
          <a:lstStyle/>
          <a:p>
            <a:endParaRPr lang="en-US" dirty="0">
              <a:latin typeface="Biome" panose="020B05030302040208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641080" y="47548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A896"/>
                </a:solidFill>
                <a:latin typeface="Biome" panose="020B0503030204020804" pitchFamily="34" charset="0"/>
                <a:ea typeface="Cambria" pitchFamily="34" charset="-122"/>
                <a:cs typeface="Biome" panose="020B0503030204020804" pitchFamily="34" charset="0"/>
              </a:rPr>
              <a:t>70.5%</a:t>
            </a:r>
            <a:endParaRPr lang="en-US" sz="2800" dirty="0">
              <a:latin typeface="Biome" panose="020B05030302040208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641080" y="53309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BE"/>
                </a:solidFill>
                <a:latin typeface="Biome" panose="020B0503030204020804" pitchFamily="34" charset="0"/>
                <a:ea typeface="Calibri" pitchFamily="34" charset="-122"/>
                <a:cs typeface="Biome" panose="020B0503030204020804" pitchFamily="34" charset="0"/>
              </a:rPr>
              <a:t>unanimous agreement</a:t>
            </a:r>
            <a:endParaRPr lang="en-US" sz="1100" dirty="0">
              <a:latin typeface="Biome" panose="020B05030302040208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296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0BE"/>
                </a:solidFill>
                <a:latin typeface="Biome" panose="020B0503030204020804" pitchFamily="34" charset="0"/>
                <a:ea typeface="Calibri" pitchFamily="34" charset="-122"/>
                <a:cs typeface="Biome" panose="020B0503030204020804" pitchFamily="34" charset="0"/>
              </a:rPr>
              <a:t>SIEM / SOC AI Program</a:t>
            </a:r>
            <a:endParaRPr lang="en-US" sz="1000" dirty="0">
              <a:latin typeface="Biome" panose="020B05030302040208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00A896"/>
                </a:solidFill>
                <a:latin typeface="Biome" panose="020B0503030204020804" pitchFamily="34" charset="0"/>
                <a:ea typeface="Calibri" pitchFamily="34" charset="-122"/>
                <a:cs typeface="Biome" panose="020B0503030204020804" pitchFamily="34" charset="0"/>
              </a:rPr>
              <a:t>METHODOLOGY</a:t>
            </a:r>
            <a:endParaRPr lang="en-US" sz="1300" dirty="0">
              <a:latin typeface="Biome" panose="020B05030302040208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B242E"/>
                </a:solidFill>
                <a:latin typeface="Biome" panose="020B0503030204020804" pitchFamily="34" charset="0"/>
                <a:ea typeface="Cambria" pitchFamily="34" charset="-122"/>
                <a:cs typeface="Biome" panose="020B0503030204020804" pitchFamily="34" charset="0"/>
              </a:rPr>
              <a:t>How the comparison was run</a:t>
            </a:r>
            <a:endParaRPr lang="en-US" sz="3000" dirty="0">
              <a:latin typeface="Biome" panose="020B05030302040208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A896"/>
                </a:solidFill>
                <a:latin typeface="Biome" panose="020B0503030204020804" pitchFamily="34" charset="0"/>
                <a:ea typeface="Cambria" pitchFamily="34" charset="-122"/>
                <a:cs typeface="Biome" panose="020B0503030204020804" pitchFamily="34" charset="0"/>
              </a:rPr>
              <a:t>01</a:t>
            </a:r>
            <a:endParaRPr lang="en-US" sz="2000" dirty="0">
              <a:latin typeface="Biome" panose="020B05030302040208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43000" y="160020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42E"/>
                </a:solidFill>
                <a:latin typeface="Biome" panose="020B0503030204020804" pitchFamily="34" charset="0"/>
                <a:ea typeface="Calibri" pitchFamily="34" charset="-122"/>
                <a:cs typeface="Biome" panose="020B0503030204020804" pitchFamily="34" charset="0"/>
              </a:rPr>
              <a:t>Dataset</a:t>
            </a:r>
            <a:endParaRPr lang="en-US" sz="1500" dirty="0">
              <a:latin typeface="Biome" panose="020B05030302040208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43000" y="1965960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Biome" panose="020B0503030204020804" pitchFamily="34" charset="0"/>
                <a:ea typeface="Calibri" pitchFamily="34" charset="-122"/>
                <a:cs typeface="Biome" panose="020B0503030204020804" pitchFamily="34" charset="0"/>
              </a:rPr>
              <a:t>10,000 synthetic tickets, probabilistically labeled (55% False Positive / 25% True Positive / 20% Needs Review).</a:t>
            </a:r>
          </a:p>
          <a:p>
            <a:pPr>
              <a:lnSpc>
                <a:spcPct val="115000"/>
              </a:lnSpc>
            </a:pPr>
            <a:r>
              <a:rPr lang="en-US" sz="1100" dirty="0">
                <a:solidFill>
                  <a:srgbClr val="5B6B7A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Realistically labeled — the same alert can be a false alarm or a real threat depending on context, not just which rule fired.</a:t>
            </a:r>
          </a:p>
        </p:txBody>
      </p:sp>
      <p:sp>
        <p:nvSpPr>
          <p:cNvPr id="7" name="Text 5"/>
          <p:cNvSpPr/>
          <p:nvPr/>
        </p:nvSpPr>
        <p:spPr>
          <a:xfrm>
            <a:off x="5989320" y="16002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A896"/>
                </a:solidFill>
                <a:latin typeface="Biome" panose="020B0503030204020804" pitchFamily="34" charset="0"/>
                <a:ea typeface="Cambria" pitchFamily="34" charset="-122"/>
                <a:cs typeface="Biome" panose="020B0503030204020804" pitchFamily="34" charset="0"/>
              </a:rPr>
              <a:t>02</a:t>
            </a:r>
            <a:endParaRPr lang="en-US" sz="2000" dirty="0">
              <a:latin typeface="Biome" panose="020B05030302040208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583680" y="160020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42E"/>
                </a:solidFill>
                <a:latin typeface="Biome" panose="020B0503030204020804" pitchFamily="34" charset="0"/>
                <a:ea typeface="Calibri" pitchFamily="34" charset="-122"/>
                <a:cs typeface="Biome" panose="020B0503030204020804" pitchFamily="34" charset="0"/>
              </a:rPr>
              <a:t>Sanity check</a:t>
            </a:r>
            <a:endParaRPr lang="en-US" sz="1500" dirty="0">
              <a:latin typeface="Biome" panose="020B05030302040208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583680" y="1965960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Biome" panose="020B0503030204020804" pitchFamily="34" charset="0"/>
                <a:ea typeface="Calibri" pitchFamily="34" charset="-122"/>
                <a:cs typeface="Biome" panose="020B0503030204020804" pitchFamily="34" charset="0"/>
              </a:rPr>
              <a:t>A rule-name-only baseline classifier scores 62.2% accuracy — well below the 95% threshold that would signal a trivial, non-informative comparison.</a:t>
            </a:r>
            <a:endParaRPr lang="en-US" sz="1100" dirty="0">
              <a:latin typeface="Biome" panose="020B05030302040208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A896"/>
                </a:solidFill>
                <a:latin typeface="Biome" panose="020B0503030204020804" pitchFamily="34" charset="0"/>
                <a:ea typeface="Cambria" pitchFamily="34" charset="-122"/>
                <a:cs typeface="Biome" panose="020B0503030204020804" pitchFamily="34" charset="0"/>
              </a:rPr>
              <a:t>03</a:t>
            </a:r>
            <a:endParaRPr lang="en-US" sz="2000" dirty="0">
              <a:latin typeface="Biome" panose="020B05030302040208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43000" y="320040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42E"/>
                </a:solidFill>
                <a:latin typeface="Biome" panose="020B0503030204020804" pitchFamily="34" charset="0"/>
                <a:ea typeface="Calibri" pitchFamily="34" charset="-122"/>
                <a:cs typeface="Biome" panose="020B0503030204020804" pitchFamily="34" charset="0"/>
              </a:rPr>
              <a:t>Features</a:t>
            </a:r>
            <a:endParaRPr lang="en-US" sz="1500" dirty="0">
              <a:latin typeface="Biome" panose="020B05030302040208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43000" y="3566160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Biome" panose="020B0503030204020804" pitchFamily="34" charset="0"/>
                <a:ea typeface="Calibri" pitchFamily="34" charset="-122"/>
                <a:cs typeface="Biome" panose="020B0503030204020804" pitchFamily="34" charset="0"/>
              </a:rPr>
              <a:t>17 engineered features per ticket: severity, user/host context, timing, historical TP/FP counts, command-line entropy, MITRE tactic, and two interaction terms.</a:t>
            </a:r>
            <a:endParaRPr lang="en-US" sz="1100" dirty="0">
              <a:latin typeface="Biome" panose="020B05030302040208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989320" y="32004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A896"/>
                </a:solidFill>
                <a:latin typeface="Biome" panose="020B0503030204020804" pitchFamily="34" charset="0"/>
                <a:ea typeface="Cambria" pitchFamily="34" charset="-122"/>
                <a:cs typeface="Biome" panose="020B0503030204020804" pitchFamily="34" charset="0"/>
              </a:rPr>
              <a:t>04</a:t>
            </a:r>
            <a:endParaRPr lang="en-US" sz="2000" dirty="0">
              <a:latin typeface="Biome" panose="020B05030302040208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583680" y="320040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42E"/>
                </a:solidFill>
                <a:latin typeface="Biome" panose="020B0503030204020804" pitchFamily="34" charset="0"/>
                <a:ea typeface="Calibri" pitchFamily="34" charset="-122"/>
                <a:cs typeface="Biome" panose="020B0503030204020804" pitchFamily="34" charset="0"/>
              </a:rPr>
              <a:t>Models</a:t>
            </a:r>
            <a:endParaRPr lang="en-US" sz="1500" dirty="0">
              <a:latin typeface="Biome" panose="020B05030302040208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83680" y="3566160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Biome" panose="020B0503030204020804" pitchFamily="34" charset="0"/>
                <a:ea typeface="Calibri" pitchFamily="34" charset="-122"/>
                <a:cs typeface="Biome" panose="020B0503030204020804" pitchFamily="34" charset="0"/>
              </a:rPr>
              <a:t>XGBoost, LightGBM, CatBoost, Random Forest, Logistic Regression, SVM (RBF), and KNN — each run with one fixed, untuned configuration. No model is hand-tuned to win.</a:t>
            </a:r>
            <a:endParaRPr lang="en-US" sz="1100" dirty="0">
              <a:latin typeface="Biome" panose="020B05030302040208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48640" y="48006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A896"/>
                </a:solidFill>
                <a:latin typeface="Biome" panose="020B0503030204020804" pitchFamily="34" charset="0"/>
                <a:ea typeface="Cambria" pitchFamily="34" charset="-122"/>
                <a:cs typeface="Biome" panose="020B0503030204020804" pitchFamily="34" charset="0"/>
              </a:rPr>
              <a:t>05</a:t>
            </a:r>
            <a:endParaRPr lang="en-US" sz="2000" dirty="0">
              <a:latin typeface="Biome" panose="020B05030302040208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43000" y="480060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42E"/>
                </a:solidFill>
                <a:latin typeface="Biome" panose="020B0503030204020804" pitchFamily="34" charset="0"/>
                <a:ea typeface="Calibri" pitchFamily="34" charset="-122"/>
                <a:cs typeface="Biome" panose="020B0503030204020804" pitchFamily="34" charset="0"/>
              </a:rPr>
              <a:t>Fairness controls</a:t>
            </a:r>
            <a:endParaRPr lang="en-US" sz="1500" dirty="0">
              <a:latin typeface="Biome" panose="020B05030302040208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43000" y="5166360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Biome" panose="020B0503030204020804" pitchFamily="34" charset="0"/>
                <a:ea typeface="Calibri" pitchFamily="34" charset="-122"/>
                <a:cs typeface="Biome" panose="020B0503030204020804" pitchFamily="34" charset="0"/>
              </a:rPr>
              <a:t>Identical partial class-balanced sample weighting applied to all 7 models. Sole exception: KNN has no sample_weight support in scikit-learn — a library limitation, disclosed, not a choice to exclude it.</a:t>
            </a:r>
            <a:endParaRPr lang="en-US" sz="1100" dirty="0">
              <a:latin typeface="Biome" panose="020B05030302040208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989320" y="48006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A896"/>
                </a:solidFill>
                <a:latin typeface="Biome" panose="020B0503030204020804" pitchFamily="34" charset="0"/>
                <a:ea typeface="Cambria" pitchFamily="34" charset="-122"/>
                <a:cs typeface="Biome" panose="020B0503030204020804" pitchFamily="34" charset="0"/>
              </a:rPr>
              <a:t>06</a:t>
            </a:r>
            <a:endParaRPr lang="en-US" sz="2000" dirty="0">
              <a:latin typeface="Biome" panose="020B05030302040208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83680" y="480060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42E"/>
                </a:solidFill>
                <a:latin typeface="Biome" panose="020B0503030204020804" pitchFamily="34" charset="0"/>
                <a:ea typeface="Calibri" pitchFamily="34" charset="-122"/>
                <a:cs typeface="Biome" panose="020B0503030204020804" pitchFamily="34" charset="0"/>
              </a:rPr>
              <a:t>Two evaluations</a:t>
            </a:r>
            <a:endParaRPr lang="en-US" sz="1500" dirty="0">
              <a:latin typeface="Biome" panose="020B05030302040208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583680" y="5166360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100" dirty="0">
                <a:solidFill>
                  <a:srgbClr val="5B6B7A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Tested</a:t>
            </a:r>
            <a:r>
              <a:rPr lang="en-US" sz="1100" dirty="0"/>
              <a:t> </a:t>
            </a:r>
            <a:r>
              <a:rPr lang="en-US" sz="1100" dirty="0">
                <a:solidFill>
                  <a:srgbClr val="5B6B7A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twice: first by splitting the training data 5 different ways, then again on a completely separate set of tickets the models had never seen before.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00A896"/>
                </a:solidFill>
                <a:latin typeface="Biome" panose="020B0503030204020804" pitchFamily="34" charset="0"/>
                <a:ea typeface="Calibri" pitchFamily="34" charset="-122"/>
                <a:cs typeface="Biome" panose="020B0503030204020804" pitchFamily="34" charset="0"/>
              </a:rPr>
              <a:t>RESULTS — CROSS-VALIDATION</a:t>
            </a:r>
            <a:endParaRPr lang="en-US" sz="1300" dirty="0">
              <a:latin typeface="Biome" panose="020B05030302040208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B242E"/>
                </a:solidFill>
                <a:latin typeface="Biome" panose="020B0503030204020804" pitchFamily="34" charset="0"/>
                <a:ea typeface="Cambria" pitchFamily="34" charset="-122"/>
                <a:cs typeface="Biome" panose="020B0503030204020804" pitchFamily="34" charset="0"/>
              </a:rPr>
              <a:t>5-fold cross-validation, 10,000 tickets</a:t>
            </a:r>
            <a:endParaRPr lang="en-US" sz="3000" dirty="0">
              <a:latin typeface="Biome" panose="020B0503030204020804" pitchFamily="34" charset="0"/>
            </a:endParaRPr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0233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0" i="0" dirty="0">
                          <a:solidFill>
                            <a:srgbClr val="FFFFFF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Model</a:t>
                      </a:r>
                      <a:endParaRPr lang="en-US" sz="11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i="0" dirty="0">
                          <a:solidFill>
                            <a:srgbClr val="FFFFFF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Accuracy</a:t>
                      </a:r>
                      <a:endParaRPr lang="en-US" sz="11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i="0" dirty="0">
                          <a:solidFill>
                            <a:srgbClr val="FFFFFF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F1 (macro)</a:t>
                      </a:r>
                      <a:endParaRPr lang="en-US" sz="11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i="0" dirty="0">
                          <a:solidFill>
                            <a:srgbClr val="FFFFFF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Train time</a:t>
                      </a:r>
                      <a:endParaRPr lang="en-US" sz="11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i="0" dirty="0">
                          <a:solidFill>
                            <a:srgbClr val="FFFFFF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Inference</a:t>
                      </a:r>
                      <a:endParaRPr lang="en-US" sz="11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i="0" dirty="0">
                          <a:solidFill>
                            <a:srgbClr val="FFFFFF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Size</a:t>
                      </a:r>
                      <a:endParaRPr lang="en-US" sz="11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XGBoost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D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70.2%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D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0.621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D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111.7 ms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D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0.0008 ms/ticket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D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488 KB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LightGBM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70.0%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0.621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408.1 ms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0.0020 ms/ticket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508 KB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CatBoost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70.4%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0.612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150.7 ms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0.0025 ms/ticket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65 KB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SVM (RBF)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68.8%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0.578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4,743.6 ms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0.161 ms/ticket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1,003 KB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Random Forest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68.9%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0.556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117.4 ms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0.0088 ms/ticket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1,036 KB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Logistic Regression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68.1%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0.550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86.9 ms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0.0001 ms/ticket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2 KB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KNN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67.0%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0.541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1.2 ms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0.0346 ms/ticket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1,408 KB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98932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F4F6F7"/>
          </a:solidFill>
          <a:ln/>
        </p:spPr>
        <p:txBody>
          <a:bodyPr/>
          <a:lstStyle/>
          <a:p>
            <a:endParaRPr lang="en-US" dirty="0">
              <a:latin typeface="Biome" panose="020B05030302040208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77240" y="59893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A"/>
                </a:solidFill>
                <a:latin typeface="Biome" panose="020B0503030204020804" pitchFamily="34" charset="0"/>
                <a:ea typeface="Calibri" pitchFamily="34" charset="-122"/>
                <a:cs typeface="Biome" panose="020B0503030204020804" pitchFamily="34" charset="0"/>
              </a:rPr>
              <a:t>Sorted by F1-macro (the fair metric under class imbalance). Highlighted row: best F1-macro. XGBoost and LightGBM are effectively tied.</a:t>
            </a:r>
            <a:endParaRPr lang="en-US" sz="1050" dirty="0">
              <a:latin typeface="Biome" panose="020B05030302040208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00A896"/>
                </a:solidFill>
                <a:latin typeface="Biome" panose="020B0503030204020804" pitchFamily="34" charset="0"/>
                <a:ea typeface="Calibri" pitchFamily="34" charset="-122"/>
                <a:cs typeface="Biome" panose="020B0503030204020804" pitchFamily="34" charset="0"/>
              </a:rPr>
              <a:t>RESULTS — INDEPENDENT VALIDATION</a:t>
            </a:r>
            <a:endParaRPr lang="en-US" sz="1300" dirty="0">
              <a:latin typeface="Biome" panose="020B05030302040208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B242E"/>
                </a:solidFill>
                <a:latin typeface="Biome" panose="020B0503030204020804" pitchFamily="34" charset="0"/>
                <a:ea typeface="Cambria" pitchFamily="34" charset="-122"/>
                <a:cs typeface="Biome" panose="020B0503030204020804" pitchFamily="34" charset="0"/>
              </a:rPr>
              <a:t>Independent validation set, different random seed</a:t>
            </a:r>
            <a:endParaRPr lang="en-US" sz="3000" dirty="0">
              <a:latin typeface="Biome" panose="020B0503030204020804" pitchFamily="34" charset="0"/>
            </a:endParaRPr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02336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0" i="0" dirty="0">
                          <a:solidFill>
                            <a:srgbClr val="FFFFFF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Model</a:t>
                      </a:r>
                      <a:endParaRPr lang="en-US" sz="11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i="0" dirty="0">
                          <a:solidFill>
                            <a:srgbClr val="FFFFFF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Accuracy</a:t>
                      </a:r>
                      <a:endParaRPr lang="en-US" sz="11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i="0" dirty="0">
                          <a:solidFill>
                            <a:srgbClr val="FFFFFF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F1 (macro)</a:t>
                      </a:r>
                      <a:endParaRPr lang="en-US" sz="11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i="0" dirty="0">
                          <a:solidFill>
                            <a:srgbClr val="FFFFFF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Needs-Review F1</a:t>
                      </a:r>
                      <a:endParaRPr lang="en-US" sz="11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XGBoost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D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70.8%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D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0.623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D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0.383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CatBoost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70.8%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0.612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0.347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LightGBM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70.3%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0.619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0.383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SVM (RBF)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69.3%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0.576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0.248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Random Forest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69.2%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0.546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0.167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Logistic Regression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68.8%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0.548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0.174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KNN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67.0%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0.540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i="0" dirty="0">
                          <a:solidFill>
                            <a:srgbClr val="1B242E"/>
                          </a:solidFill>
                          <a:latin typeface="Biome" panose="020B0503030204020804" pitchFamily="34" charset="0"/>
                          <a:ea typeface="Calibri" pitchFamily="34" charset="-122"/>
                          <a:cs typeface="Biome" panose="020B0503030204020804" pitchFamily="34" charset="0"/>
                        </a:rPr>
                        <a:t>0.202</a:t>
                      </a:r>
                      <a:endParaRPr lang="en-US" sz="1200" b="0" i="0" dirty="0">
                        <a:latin typeface="Biome" panose="020B0503030204020804" pitchFamily="34" charset="0"/>
                        <a:ea typeface="Calibri" charset="0"/>
                        <a:cs typeface="Biome" panose="020B05030302040208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548640" y="598932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F4F6F7"/>
          </a:solidFill>
          <a:ln/>
        </p:spPr>
        <p:txBody>
          <a:bodyPr/>
          <a:lstStyle/>
          <a:p>
            <a:endParaRPr lang="en-US" dirty="0">
              <a:latin typeface="Biome" panose="020B05030302040208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77240" y="59893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A"/>
                </a:solidFill>
                <a:latin typeface="Biome" panose="020B0503030204020804" pitchFamily="34" charset="0"/>
                <a:ea typeface="Calibri" pitchFamily="34" charset="-122"/>
                <a:cs typeface="Biome" panose="020B0503030204020804" pitchFamily="34" charset="0"/>
              </a:rPr>
              <a:t>Never used in training — tests generalization beyond the CV fold structure. Same ranking holds: boosted trees (XGBoost / LightGBM / CatBoost) lead by a wide, consistent margin over RF / SVM / LogReg / KNN.</a:t>
            </a:r>
            <a:endParaRPr lang="en-US" sz="1050" dirty="0">
              <a:latin typeface="Biome" panose="020B05030302040208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00A896"/>
                </a:solidFill>
                <a:latin typeface="Biome" panose="020B0503030204020804" pitchFamily="34" charset="0"/>
                <a:ea typeface="Calibri" pitchFamily="34" charset="-122"/>
                <a:cs typeface="Biome" panose="020B0503030204020804" pitchFamily="34" charset="0"/>
              </a:rPr>
              <a:t>PATTERNS ACROSS BOTH EVALUATIONS</a:t>
            </a:r>
            <a:endParaRPr lang="en-US" sz="1300" dirty="0">
              <a:latin typeface="Biome" panose="020B05030302040208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B242E"/>
                </a:solidFill>
                <a:latin typeface="Biome" panose="020B0503030204020804" pitchFamily="34" charset="0"/>
                <a:ea typeface="Cambria" pitchFamily="34" charset="-122"/>
                <a:cs typeface="Biome" panose="020B0503030204020804" pitchFamily="34" charset="0"/>
              </a:rPr>
              <a:t>What the results actually show</a:t>
            </a:r>
            <a:endParaRPr lang="en-US" sz="3000" dirty="0">
              <a:latin typeface="Biome" panose="020B05030302040208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F4F6F7"/>
          </a:solidFill>
          <a:ln/>
        </p:spPr>
        <p:txBody>
          <a:bodyPr/>
          <a:lstStyle/>
          <a:p>
            <a:endParaRPr lang="en-US" dirty="0">
              <a:latin typeface="Biome" panose="020B05030302040208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 dirty="0">
              <a:latin typeface="Biome" panose="020B05030302040208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97280" y="189280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42E"/>
                </a:solidFill>
                <a:latin typeface="Biome" panose="020B0503030204020804" pitchFamily="34" charset="0"/>
                <a:ea typeface="Calibri" pitchFamily="34" charset="-122"/>
                <a:cs typeface="Biome" panose="020B0503030204020804" pitchFamily="34" charset="0"/>
              </a:rPr>
              <a:t>Boosting beats bagging, linear, and instance-based</a:t>
            </a:r>
            <a:endParaRPr lang="en-US" sz="1500" dirty="0">
              <a:latin typeface="Biome" panose="020B05030302040208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2350008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Biome" panose="020B0503030204020804" pitchFamily="34" charset="0"/>
                <a:ea typeface="Calibri" pitchFamily="34" charset="-122"/>
                <a:cs typeface="Biome" panose="020B0503030204020804" pitchFamily="34" charset="0"/>
              </a:rPr>
              <a:t>The real gap is XGBoost / LightGBM / CatBoost (F1 0.61-0.62) vs. Random Forest / SVM / Logistic Regression / KNN (F1 0.54-0.58) — consistent in both CV and validation.</a:t>
            </a:r>
            <a:endParaRPr lang="en-US" sz="1150" dirty="0">
              <a:latin typeface="Biome" panose="020B05030302040208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F4F6F7"/>
          </a:solidFill>
          <a:ln/>
        </p:spPr>
        <p:txBody>
          <a:bodyPr/>
          <a:lstStyle/>
          <a:p>
            <a:endParaRPr lang="en-US" dirty="0">
              <a:latin typeface="Biome" panose="020B05030302040208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46520" y="196596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 dirty="0">
              <a:latin typeface="Biome" panose="020B05030302040208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720840" y="189280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42E"/>
                </a:solidFill>
                <a:latin typeface="Biome" panose="020B0503030204020804" pitchFamily="34" charset="0"/>
                <a:ea typeface="Calibri" pitchFamily="34" charset="-122"/>
                <a:cs typeface="Biome" panose="020B0503030204020804" pitchFamily="34" charset="0"/>
              </a:rPr>
              <a:t>Within the top 3, differences are noise</a:t>
            </a:r>
            <a:endParaRPr lang="en-US" sz="1500" dirty="0">
              <a:latin typeface="Biome" panose="020B05030302040208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46520" y="2350008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Biome" panose="020B0503030204020804" pitchFamily="34" charset="0"/>
                <a:ea typeface="Calibri" pitchFamily="34" charset="-122"/>
                <a:cs typeface="Biome" panose="020B0503030204020804" pitchFamily="34" charset="0"/>
              </a:rPr>
              <a:t>XGBoost, LightGBM, and CatBoost sit within each other's cross-validation fold-to-fold standard deviation (±0.8-1.0%) — not a meaningful separation on their own.</a:t>
            </a:r>
            <a:endParaRPr lang="en-US" sz="1150" dirty="0">
              <a:latin typeface="Biome" panose="020B05030302040208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F4F6F7"/>
          </a:solidFill>
          <a:ln/>
        </p:spPr>
        <p:txBody>
          <a:bodyPr/>
          <a:lstStyle/>
          <a:p>
            <a:endParaRPr lang="en-US" dirty="0">
              <a:latin typeface="Biome" panose="020B05030302040208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22960" y="434340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 dirty="0">
              <a:latin typeface="Biome" panose="020B05030302040208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97280" y="427024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42E"/>
                </a:solidFill>
                <a:latin typeface="Biome" panose="020B0503030204020804" pitchFamily="34" charset="0"/>
                <a:ea typeface="Calibri" pitchFamily="34" charset="-122"/>
                <a:cs typeface="Biome" panose="020B0503030204020804" pitchFamily="34" charset="0"/>
              </a:rPr>
              <a:t>70.5% unanimous agreement</a:t>
            </a:r>
            <a:endParaRPr lang="en-US" sz="1500" dirty="0">
              <a:latin typeface="Biome" panose="020B05030302040208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2960" y="4727448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Biome" panose="020B0503030204020804" pitchFamily="34" charset="0"/>
                <a:ea typeface="Calibri" pitchFamily="34" charset="-122"/>
                <a:cs typeface="Biome" panose="020B0503030204020804" pitchFamily="34" charset="0"/>
              </a:rPr>
              <a:t>Seven independently-configured models reach the identical verdict on 7 in 10 tickets. Disagreement concentrates in the genuinely ambiguous remainder.</a:t>
            </a:r>
            <a:endParaRPr lang="en-US" sz="1150" dirty="0">
              <a:latin typeface="Biome" panose="020B05030302040208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172200" y="406908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F4F6F7"/>
          </a:solidFill>
          <a:ln/>
        </p:spPr>
        <p:txBody>
          <a:bodyPr/>
          <a:lstStyle/>
          <a:p>
            <a:endParaRPr lang="en-US" dirty="0">
              <a:latin typeface="Biome" panose="020B05030302040208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446520" y="434340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 dirty="0">
              <a:latin typeface="Biome" panose="020B05030302040208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720840" y="427024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42E"/>
                </a:solidFill>
                <a:latin typeface="Biome" panose="020B0503030204020804" pitchFamily="34" charset="0"/>
                <a:ea typeface="Calibri" pitchFamily="34" charset="-122"/>
                <a:cs typeface="Biome" panose="020B0503030204020804" pitchFamily="34" charset="0"/>
              </a:rPr>
              <a:t>Needs-Review is the hard class for everyone</a:t>
            </a:r>
            <a:endParaRPr lang="en-US" sz="1500" dirty="0">
              <a:latin typeface="Biome" panose="020B05030302040208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46520" y="4727448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Biome" panose="020B0503030204020804" pitchFamily="34" charset="0"/>
                <a:ea typeface="Calibri" pitchFamily="34" charset="-122"/>
                <a:cs typeface="Biome" panose="020B0503030204020804" pitchFamily="34" charset="0"/>
              </a:rPr>
              <a:t>Every model scores noticeably lower on Needs-Review than on False Positive / True Positive — a property of the problem, not of any one model.</a:t>
            </a:r>
            <a:endParaRPr lang="en-US" sz="1150" dirty="0">
              <a:latin typeface="Biome" panose="020B05030302040208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00A896"/>
                </a:solidFill>
                <a:latin typeface="Biome" panose="020B0503030204020804" pitchFamily="34" charset="0"/>
                <a:ea typeface="Calibri" pitchFamily="34" charset="-122"/>
                <a:cs typeface="Biome" panose="020B0503030204020804" pitchFamily="34" charset="0"/>
              </a:rPr>
              <a:t>CROSS-CHECK</a:t>
            </a:r>
            <a:endParaRPr lang="en-US" sz="1300" dirty="0">
              <a:latin typeface="Biome" panose="020B05030302040208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1B242E"/>
                </a:solidFill>
                <a:latin typeface="Biome" panose="020B0503030204020804" pitchFamily="34" charset="0"/>
                <a:ea typeface="Cambria" pitchFamily="34" charset="-122"/>
                <a:cs typeface="Biome" panose="020B0503030204020804" pitchFamily="34" charset="0"/>
              </a:rPr>
              <a:t>Confirmed in the live product</a:t>
            </a:r>
            <a:endParaRPr lang="en-US" sz="2700" dirty="0">
              <a:latin typeface="Biome" panose="020B0503030204020804" pitchFamily="34" charset="0"/>
            </a:endParaRPr>
          </a:p>
        </p:txBody>
      </p:sp>
      <p:pic>
        <p:nvPicPr>
          <p:cNvPr id="4" name="Image 0" descr="modelcomparison_cro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417320"/>
            <a:ext cx="5257800" cy="2514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17320"/>
            <a:ext cx="5257800" cy="2514600"/>
          </a:xfrm>
          <a:prstGeom prst="rect">
            <a:avLst/>
          </a:prstGeom>
          <a:ln w="12700">
            <a:solidFill>
              <a:srgbClr val="DCE3E8"/>
            </a:solidFill>
            <a:prstDash val="solid"/>
          </a:ln>
        </p:spPr>
        <p:txBody>
          <a:bodyPr/>
          <a:lstStyle/>
          <a:p>
            <a:endParaRPr lang="en-US" dirty="0">
              <a:latin typeface="Biome" panose="020B05030302040208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48640" y="402336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2E"/>
                </a:solidFill>
                <a:latin typeface="Biome" panose="020B0503030204020804" pitchFamily="34" charset="0"/>
                <a:ea typeface="Calibri" pitchFamily="34" charset="-122"/>
                <a:cs typeface="Biome" panose="020B0503030204020804" pitchFamily="34" charset="0"/>
              </a:rPr>
              <a:t>Model Comparison — 5-fold CV (backend)</a:t>
            </a:r>
            <a:endParaRPr lang="en-US" sz="1150" dirty="0">
              <a:latin typeface="Biome" panose="020B05030302040208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48640" y="4315968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Biome" panose="020B0503030204020804" pitchFamily="34" charset="0"/>
                <a:ea typeface="Calibri" pitchFamily="34" charset="-122"/>
                <a:cs typeface="Biome" panose="020B0503030204020804" pitchFamily="34" charset="0"/>
              </a:rPr>
              <a:t>The app's own badge favors CatBoost on raw accuracy (70.4%) — but its own text flags CatBoost 3rd on F1-macro (0.612), picking it for per-class consistency, not for being the single best on any one metric.</a:t>
            </a:r>
            <a:endParaRPr lang="en-US" sz="1050" dirty="0">
              <a:latin typeface="Biome" panose="020B0503030204020804" pitchFamily="34" charset="0"/>
            </a:endParaRPr>
          </a:p>
        </p:txBody>
      </p:sp>
      <p:pic>
        <p:nvPicPr>
          <p:cNvPr id="8" name="Image 1" descr="livecomparison_crop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72200" y="1417320"/>
            <a:ext cx="5257800" cy="25146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172200" y="1417320"/>
            <a:ext cx="5257800" cy="2514600"/>
          </a:xfrm>
          <a:prstGeom prst="rect">
            <a:avLst/>
          </a:prstGeom>
          <a:ln w="12700">
            <a:solidFill>
              <a:srgbClr val="DCE3E8"/>
            </a:solidFill>
            <a:prstDash val="solid"/>
          </a:ln>
        </p:spPr>
        <p:txBody>
          <a:bodyPr/>
          <a:lstStyle/>
          <a:p>
            <a:endParaRPr lang="en-US" dirty="0">
              <a:latin typeface="Biome" panose="020B0503030204020804" pitchFamily="3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6172200" y="402336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2E"/>
                </a:solidFill>
                <a:latin typeface="Biome" panose="020B0503030204020804" pitchFamily="34" charset="0"/>
                <a:ea typeface="Calibri" pitchFamily="34" charset="-122"/>
                <a:cs typeface="Biome" panose="020B0503030204020804" pitchFamily="34" charset="0"/>
              </a:rPr>
              <a:t>Live Model Comparison — 5,000-ticket upload</a:t>
            </a:r>
            <a:endParaRPr lang="en-US" sz="1150" dirty="0">
              <a:latin typeface="Biome" panose="020B0503030204020804" pitchFamily="3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6172200" y="4315968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Biome" panose="020B0503030204020804" pitchFamily="34" charset="0"/>
                <a:ea typeface="Calibri" pitchFamily="34" charset="-122"/>
                <a:cs typeface="Biome" panose="020B0503030204020804" pitchFamily="34" charset="0"/>
              </a:rPr>
              <a:t>The same independent validation set used in this deck: XGBoost leads F1-macro at 0.623, with 71% (3,525/5,000) unanimous agreement across all 7 models.</a:t>
            </a:r>
            <a:endParaRPr lang="en-US" sz="1050" dirty="0">
              <a:latin typeface="Biome" panose="020B0503030204020804" pitchFamily="34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548640" y="598932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F4F6F7"/>
          </a:solidFill>
          <a:ln/>
        </p:spPr>
        <p:txBody>
          <a:bodyPr/>
          <a:lstStyle/>
          <a:p>
            <a:endParaRPr lang="en-US" dirty="0">
              <a:latin typeface="Biome" panose="020B0503030204020804" pitchFamily="34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777240" y="598932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A"/>
                </a:solidFill>
                <a:latin typeface="Biome" panose="020B0503030204020804" pitchFamily="34" charset="0"/>
                <a:ea typeface="Calibri" pitchFamily="34" charset="-122"/>
                <a:cs typeface="Biome" panose="020B0503030204020804" pitchFamily="34" charset="0"/>
              </a:rPr>
              <a:t>Same story, not a conflict: accuracy rewards the majority False-Positive class and can hide weak Needs-Review performance — the app's own F1-macro tooltip makes this exact point. Both views agree on the same closely-matched top-tier trio; they differ only in which single metric breaks the tie.</a:t>
            </a:r>
            <a:endParaRPr lang="en-US" sz="1050" dirty="0">
              <a:latin typeface="Biome" panose="020B05030302040208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00A896"/>
                </a:solidFill>
                <a:latin typeface="Biome" panose="020B0503030204020804" pitchFamily="34" charset="0"/>
                <a:ea typeface="Calibri" pitchFamily="34" charset="-122"/>
                <a:cs typeface="Biome" panose="020B0503030204020804" pitchFamily="34" charset="0"/>
              </a:rPr>
              <a:t>SELECTION</a:t>
            </a:r>
            <a:endParaRPr lang="en-US" sz="1300" dirty="0">
              <a:latin typeface="Biome" panose="020B05030302040208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B242E"/>
                </a:solidFill>
                <a:latin typeface="Biome" panose="020B0503030204020804" pitchFamily="34" charset="0"/>
                <a:ea typeface="Cambria" pitchFamily="34" charset="-122"/>
                <a:cs typeface="Biome" panose="020B0503030204020804" pitchFamily="34" charset="0"/>
              </a:rPr>
              <a:t>Why XGBoost</a:t>
            </a:r>
            <a:endParaRPr lang="en-US" sz="3000" dirty="0">
              <a:latin typeface="Biome" panose="020B05030302040208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28216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 dirty="0">
              <a:latin typeface="Biome" panose="020B05030302040208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728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Biome" panose="020B0503030204020804" pitchFamily="34" charset="0"/>
                <a:ea typeface="Calibri" pitchFamily="34" charset="-122"/>
                <a:cs typeface="Biome" panose="020B0503030204020804" pitchFamily="34" charset="0"/>
              </a:rPr>
              <a:t>1</a:t>
            </a:r>
            <a:endParaRPr lang="en-US" sz="1400" dirty="0">
              <a:latin typeface="Biome" panose="020B05030302040208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43000" y="166420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42E"/>
                </a:solidFill>
                <a:latin typeface="Biome" panose="020B0503030204020804" pitchFamily="34" charset="0"/>
                <a:ea typeface="Calibri" pitchFamily="34" charset="-122"/>
                <a:cs typeface="Biome" panose="020B0503030204020804" pitchFamily="34" charset="0"/>
              </a:rPr>
              <a:t>Best-or-tied F1-macro in both evaluations</a:t>
            </a:r>
            <a:endParaRPr lang="en-US" sz="1500" dirty="0">
              <a:latin typeface="Biome" panose="020B05030302040208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43000" y="198424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A"/>
                </a:solidFill>
                <a:latin typeface="Biome" panose="020B0503030204020804" pitchFamily="34" charset="0"/>
                <a:ea typeface="Calibri" pitchFamily="34" charset="-122"/>
                <a:cs typeface="Biome" panose="020B0503030204020804" pitchFamily="34" charset="0"/>
              </a:rPr>
              <a:t>The only model that leads (or ties the lead) in both the CV benchmark and the independent validation set.</a:t>
            </a:r>
            <a:endParaRPr lang="en-US" sz="1150" dirty="0">
              <a:latin typeface="Biome" panose="020B05030302040208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624328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 dirty="0">
              <a:latin typeface="Biome" panose="020B05030302040208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2624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Biome" panose="020B0503030204020804" pitchFamily="34" charset="0"/>
                <a:ea typeface="Calibri" pitchFamily="34" charset="-122"/>
                <a:cs typeface="Biome" panose="020B0503030204020804" pitchFamily="34" charset="0"/>
              </a:rPr>
              <a:t>2</a:t>
            </a:r>
            <a:endParaRPr lang="en-US" sz="1400" dirty="0">
              <a:latin typeface="Biome" panose="020B05030302040208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43000" y="256032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42E"/>
                </a:solidFill>
                <a:latin typeface="Biome" panose="020B0503030204020804" pitchFamily="34" charset="0"/>
                <a:ea typeface="Calibri" pitchFamily="34" charset="-122"/>
                <a:cs typeface="Biome" panose="020B0503030204020804" pitchFamily="34" charset="0"/>
              </a:rPr>
              <a:t>Fastest inference</a:t>
            </a:r>
            <a:endParaRPr lang="en-US" sz="1500" dirty="0">
              <a:latin typeface="Biome" panose="020B05030302040208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43000" y="28803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A"/>
                </a:solidFill>
                <a:latin typeface="Biome" panose="020B0503030204020804" pitchFamily="34" charset="0"/>
                <a:ea typeface="Calibri" pitchFamily="34" charset="-122"/>
                <a:cs typeface="Biome" panose="020B0503030204020804" pitchFamily="34" charset="0"/>
              </a:rPr>
              <a:t>0.0008 ms per ticket — satisfies the millisecond latency requirement for the offline fallback path.</a:t>
            </a:r>
            <a:endParaRPr lang="en-US" sz="1150" dirty="0">
              <a:latin typeface="Biome" panose="020B05030302040208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 dirty="0">
              <a:latin typeface="Biome" panose="020B05030302040208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4864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Biome" panose="020B0503030204020804" pitchFamily="34" charset="0"/>
                <a:ea typeface="Calibri" pitchFamily="34" charset="-122"/>
                <a:cs typeface="Biome" panose="020B0503030204020804" pitchFamily="34" charset="0"/>
              </a:rPr>
              <a:t>3</a:t>
            </a:r>
            <a:endParaRPr lang="en-US" sz="1400" dirty="0">
              <a:latin typeface="Biome" panose="020B05030302040208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43000" y="345643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42E"/>
                </a:solidFill>
                <a:latin typeface="Biome" panose="020B0503030204020804" pitchFamily="34" charset="0"/>
                <a:ea typeface="Calibri" pitchFamily="34" charset="-122"/>
                <a:cs typeface="Biome" panose="020B0503030204020804" pitchFamily="34" charset="0"/>
              </a:rPr>
              <a:t>Reasonable model size</a:t>
            </a:r>
            <a:endParaRPr lang="en-US" sz="1500" dirty="0">
              <a:latin typeface="Biome" panose="020B05030302040208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43000" y="377647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A"/>
                </a:solidFill>
                <a:latin typeface="Biome" panose="020B0503030204020804" pitchFamily="34" charset="0"/>
                <a:ea typeface="Calibri" pitchFamily="34" charset="-122"/>
                <a:cs typeface="Biome" panose="020B0503030204020804" pitchFamily="34" charset="0"/>
              </a:rPr>
              <a:t>488 KB — smaller than Random Forest, SVM, and KNN, though larger than CatBoost's 65 KB.</a:t>
            </a:r>
            <a:endParaRPr lang="en-US" sz="1150" dirty="0">
              <a:latin typeface="Biome" panose="020B05030302040208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4416552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 dirty="0">
              <a:latin typeface="Biome" panose="020B05030302040208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48640" y="4416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Biome" panose="020B0503030204020804" pitchFamily="34" charset="0"/>
                <a:ea typeface="Calibri" pitchFamily="34" charset="-122"/>
                <a:cs typeface="Biome" panose="020B0503030204020804" pitchFamily="34" charset="0"/>
              </a:rPr>
              <a:t>4</a:t>
            </a:r>
            <a:endParaRPr lang="en-US" sz="1400" dirty="0">
              <a:latin typeface="Biome" panose="020B05030302040208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43000" y="4352544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42E"/>
                </a:solidFill>
                <a:latin typeface="Biome" panose="020B0503030204020804" pitchFamily="34" charset="0"/>
                <a:ea typeface="Calibri" pitchFamily="34" charset="-122"/>
                <a:cs typeface="Biome" panose="020B0503030204020804" pitchFamily="34" charset="0"/>
              </a:rPr>
              <a:t>Consistent per-class performance</a:t>
            </a:r>
            <a:endParaRPr lang="en-US" sz="1500" dirty="0">
              <a:latin typeface="Biome" panose="020B05030302040208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43000" y="467258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A"/>
                </a:solidFill>
                <a:latin typeface="Biome" panose="020B0503030204020804" pitchFamily="34" charset="0"/>
                <a:ea typeface="Calibri" pitchFamily="34" charset="-122"/>
                <a:cs typeface="Biome" panose="020B0503030204020804" pitchFamily="34" charset="0"/>
              </a:rPr>
              <a:t>Top 2-3 on all three class F1 scores — not leading one class at the expense of another.</a:t>
            </a:r>
            <a:endParaRPr lang="en-US" sz="1150" dirty="0">
              <a:latin typeface="Biome" panose="020B05030302040208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48640" y="5312664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 dirty="0">
              <a:latin typeface="Biome" panose="020B05030302040208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48640" y="5312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Biome" panose="020B0503030204020804" pitchFamily="34" charset="0"/>
                <a:ea typeface="Calibri" pitchFamily="34" charset="-122"/>
                <a:cs typeface="Biome" panose="020B0503030204020804" pitchFamily="34" charset="0"/>
              </a:rPr>
              <a:t>5</a:t>
            </a:r>
            <a:endParaRPr lang="en-US" sz="1400" dirty="0">
              <a:latin typeface="Biome" panose="020B05030302040208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143000" y="5248656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42E"/>
                </a:solidFill>
                <a:latin typeface="Biome" panose="020B0503030204020804" pitchFamily="34" charset="0"/>
                <a:ea typeface="Calibri" pitchFamily="34" charset="-122"/>
                <a:cs typeface="Biome" panose="020B0503030204020804" pitchFamily="34" charset="0"/>
              </a:rPr>
              <a:t>Already in production</a:t>
            </a:r>
            <a:endParaRPr lang="en-US" sz="1500" dirty="0">
              <a:latin typeface="Biome" panose="020B05030302040208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143000" y="5568696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A"/>
                </a:solidFill>
                <a:latin typeface="Biome" panose="020B0503030204020804" pitchFamily="34" charset="0"/>
                <a:ea typeface="Calibri" pitchFamily="34" charset="-122"/>
                <a:cs typeface="Biome" panose="020B0503030204020804" pitchFamily="34" charset="0"/>
              </a:rPr>
              <a:t>Already integrated into the live pipeline (backend/pipeline/classifier.py) — a practical consideration alongside the metrics above, not a performance claim.</a:t>
            </a:r>
            <a:endParaRPr lang="en-US" sz="1150" dirty="0">
              <a:latin typeface="Biome" panose="020B05030302040208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4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C97A2B"/>
                </a:solidFill>
                <a:latin typeface="Biome" panose="020B0503030204020804" pitchFamily="34" charset="0"/>
                <a:ea typeface="Calibri" pitchFamily="34" charset="-122"/>
                <a:cs typeface="Biome" panose="020B0503030204020804" pitchFamily="34" charset="0"/>
              </a:rPr>
              <a:t>LIMITATIONS &amp; SCOPE</a:t>
            </a:r>
            <a:endParaRPr lang="en-US" sz="1300" dirty="0">
              <a:latin typeface="Biome" panose="020B05030302040208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Biome" panose="020B0503030204020804" pitchFamily="34" charset="0"/>
                <a:ea typeface="Cambria" pitchFamily="34" charset="-122"/>
                <a:cs typeface="Biome" panose="020B0503030204020804" pitchFamily="34" charset="0"/>
              </a:rPr>
              <a:t>What this comparison does not settle</a:t>
            </a:r>
            <a:endParaRPr lang="en-US" sz="2800" dirty="0">
              <a:latin typeface="Biome" panose="020B05030302040208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263444"/>
          </a:solidFill>
          <a:ln/>
        </p:spPr>
        <p:txBody>
          <a:bodyPr/>
          <a:lstStyle/>
          <a:p>
            <a:endParaRPr lang="en-US" dirty="0">
              <a:latin typeface="Biome" panose="020B05030302040208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128016" cy="128016"/>
          </a:xfrm>
          <a:prstGeom prst="ellipse">
            <a:avLst/>
          </a:prstGeom>
          <a:solidFill>
            <a:srgbClr val="C97A2B"/>
          </a:solidFill>
          <a:ln/>
        </p:spPr>
        <p:txBody>
          <a:bodyPr/>
          <a:lstStyle/>
          <a:p>
            <a:endParaRPr lang="en-US" dirty="0">
              <a:latin typeface="Biome" panose="020B05030302040208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97280" y="189280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Biome" panose="020B0503030204020804" pitchFamily="34" charset="0"/>
                <a:ea typeface="Calibri" pitchFamily="34" charset="-122"/>
                <a:cs typeface="Biome" panose="020B0503030204020804" pitchFamily="34" charset="0"/>
              </a:rPr>
              <a:t>Narrow top-tier margin</a:t>
            </a:r>
            <a:endParaRPr lang="en-US" sz="1500" dirty="0">
              <a:latin typeface="Biome" panose="020B05030302040208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2350008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B0BE"/>
                </a:solidFill>
                <a:latin typeface="Biome" panose="020B0503030204020804" pitchFamily="34" charset="0"/>
                <a:ea typeface="Calibri" pitchFamily="34" charset="-122"/>
                <a:cs typeface="Biome" panose="020B0503030204020804" pitchFamily="34" charset="0"/>
              </a:rPr>
              <a:t>XGBoost's edge over LightGBM / CatBoost is within cross-validation fold-to-fold noise — a defensible choice among a closely-matched top tier, not a large, unambiguous advantage.</a:t>
            </a:r>
            <a:endParaRPr lang="en-US" sz="1150" dirty="0">
              <a:latin typeface="Biome" panose="020B05030302040208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263444"/>
          </a:solidFill>
          <a:ln/>
        </p:spPr>
        <p:txBody>
          <a:bodyPr/>
          <a:lstStyle/>
          <a:p>
            <a:endParaRPr lang="en-US" dirty="0">
              <a:latin typeface="Biome" panose="020B05030302040208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46520" y="1965960"/>
            <a:ext cx="128016" cy="128016"/>
          </a:xfrm>
          <a:prstGeom prst="ellipse">
            <a:avLst/>
          </a:prstGeom>
          <a:solidFill>
            <a:srgbClr val="C97A2B"/>
          </a:solidFill>
          <a:ln/>
        </p:spPr>
        <p:txBody>
          <a:bodyPr/>
          <a:lstStyle/>
          <a:p>
            <a:endParaRPr lang="en-US" dirty="0">
              <a:latin typeface="Biome" panose="020B05030302040208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720840" y="189280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Biome" panose="020B0503030204020804" pitchFamily="34" charset="0"/>
                <a:ea typeface="Calibri" pitchFamily="34" charset="-122"/>
                <a:cs typeface="Biome" panose="020B0503030204020804" pitchFamily="34" charset="0"/>
              </a:rPr>
              <a:t>Synthetic data only</a:t>
            </a:r>
            <a:endParaRPr lang="en-US" sz="1500" dirty="0">
              <a:latin typeface="Biome" panose="020B05030302040208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46520" y="2350008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B0BE"/>
                </a:solidFill>
                <a:latin typeface="Biome" panose="020B0503030204020804" pitchFamily="34" charset="0"/>
                <a:ea typeface="Calibri" pitchFamily="34" charset="-122"/>
                <a:cs typeface="Biome" panose="020B0503030204020804" pitchFamily="34" charset="0"/>
              </a:rPr>
              <a:t>All figures come from generated tickets. Production-grade validation is contingent on Option A shadow-mode testing against real, analyst-confirmed dispositions per the governing TSD.</a:t>
            </a:r>
            <a:endParaRPr lang="en-US" sz="1150" dirty="0">
              <a:latin typeface="Biome" panose="020B05030302040208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263444"/>
          </a:solidFill>
          <a:ln/>
        </p:spPr>
        <p:txBody>
          <a:bodyPr/>
          <a:lstStyle/>
          <a:p>
            <a:endParaRPr lang="en-US" dirty="0">
              <a:latin typeface="Biome" panose="020B05030302040208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22960" y="4343400"/>
            <a:ext cx="128016" cy="128016"/>
          </a:xfrm>
          <a:prstGeom prst="ellipse">
            <a:avLst/>
          </a:prstGeom>
          <a:solidFill>
            <a:srgbClr val="C97A2B"/>
          </a:solidFill>
          <a:ln/>
        </p:spPr>
        <p:txBody>
          <a:bodyPr/>
          <a:lstStyle/>
          <a:p>
            <a:endParaRPr lang="en-US" dirty="0">
              <a:latin typeface="Biome" panose="020B05030302040208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97280" y="427024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Biome" panose="020B0503030204020804" pitchFamily="34" charset="0"/>
                <a:ea typeface="Calibri" pitchFamily="34" charset="-122"/>
                <a:cs typeface="Biome" panose="020B0503030204020804" pitchFamily="34" charset="0"/>
              </a:rPr>
              <a:t>Needs-Review is hard — for everyone</a:t>
            </a:r>
            <a:endParaRPr lang="en-US" sz="1500" dirty="0">
              <a:latin typeface="Biome" panose="020B05030302040208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2960" y="4727448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B0BE"/>
                </a:solidFill>
                <a:latin typeface="Biome" panose="020B0503030204020804" pitchFamily="34" charset="0"/>
                <a:ea typeface="Calibri" pitchFamily="34" charset="-122"/>
                <a:cs typeface="Biome" panose="020B0503030204020804" pitchFamily="34" charset="0"/>
              </a:rPr>
              <a:t>Best F1 on this class is ~0.38-0.39 across all 7 models. That reflects genuine problem difficulty, not a weakness specific to XGBoost.</a:t>
            </a:r>
            <a:endParaRPr lang="en-US" sz="1150" dirty="0">
              <a:latin typeface="Biome" panose="020B05030302040208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172200" y="406908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263444"/>
          </a:solidFill>
          <a:ln/>
        </p:spPr>
        <p:txBody>
          <a:bodyPr/>
          <a:lstStyle/>
          <a:p>
            <a:endParaRPr lang="en-US" dirty="0">
              <a:latin typeface="Biome" panose="020B05030302040208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446520" y="4343400"/>
            <a:ext cx="128016" cy="128016"/>
          </a:xfrm>
          <a:prstGeom prst="ellipse">
            <a:avLst/>
          </a:prstGeom>
          <a:solidFill>
            <a:srgbClr val="C97A2B"/>
          </a:solidFill>
          <a:ln/>
        </p:spPr>
        <p:txBody>
          <a:bodyPr/>
          <a:lstStyle/>
          <a:p>
            <a:endParaRPr lang="en-US" dirty="0">
              <a:latin typeface="Biome" panose="020B05030302040208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720840" y="427024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Biome" panose="020B0503030204020804" pitchFamily="34" charset="0"/>
                <a:ea typeface="Calibri" pitchFamily="34" charset="-122"/>
                <a:cs typeface="Biome" panose="020B0503030204020804" pitchFamily="34" charset="0"/>
              </a:rPr>
              <a:t>Sensitive to configuration</a:t>
            </a:r>
            <a:endParaRPr lang="en-US" sz="1500" dirty="0">
              <a:latin typeface="Biome" panose="020B05030302040208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46520" y="4727448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B0BE"/>
                </a:solidFill>
                <a:latin typeface="Biome" panose="020B0503030204020804" pitchFamily="34" charset="0"/>
                <a:ea typeface="Calibri" pitchFamily="34" charset="-122"/>
                <a:cs typeface="Biome" panose="020B0503030204020804" pitchFamily="34" charset="0"/>
              </a:rPr>
              <a:t>Ranking has shifted under different settings in prior testing. A materially different configuration — e.g. emphasizing Needs-Review recall — could reorder the top 3.</a:t>
            </a:r>
            <a:endParaRPr lang="en-US" sz="1150" dirty="0">
              <a:latin typeface="Biome" panose="020B05030302040208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4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34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00A896"/>
                </a:solidFill>
                <a:latin typeface="Biome" panose="020B0503030204020804" pitchFamily="34" charset="0"/>
                <a:ea typeface="Calibri" pitchFamily="34" charset="-122"/>
                <a:cs typeface="Biome" panose="020B0503030204020804" pitchFamily="34" charset="0"/>
              </a:rPr>
              <a:t>RECOMMENDATION</a:t>
            </a:r>
            <a:endParaRPr lang="en-US" sz="1300" dirty="0">
              <a:latin typeface="Biome" panose="020B05030302040208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Biome" panose="020B0503030204020804" pitchFamily="34" charset="0"/>
                <a:ea typeface="Cambria" pitchFamily="34" charset="-122"/>
                <a:cs typeface="Biome" panose="020B0503030204020804" pitchFamily="34" charset="0"/>
              </a:rPr>
              <a:t>XGBoost is selected as the production</a:t>
            </a:r>
            <a:endParaRPr lang="en-US" sz="3400" dirty="0">
              <a:latin typeface="Biome" panose="020B0503030204020804" pitchFamily="34" charset="0"/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Biome" panose="020B0503030204020804" pitchFamily="34" charset="0"/>
                <a:ea typeface="Cambria" pitchFamily="34" charset="-122"/>
                <a:cs typeface="Biome" panose="020B0503030204020804" pitchFamily="34" charset="0"/>
              </a:rPr>
              <a:t>SOC triage classifier</a:t>
            </a:r>
            <a:endParaRPr lang="en-US" sz="3400" dirty="0">
              <a:latin typeface="Biome" panose="020B05030302040208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8778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9FB0BE"/>
                </a:solidFill>
                <a:latin typeface="Biome" panose="020B0503030204020804" pitchFamily="34" charset="0"/>
                <a:ea typeface="Calibri" pitchFamily="34" charset="-122"/>
                <a:cs typeface="Biome" panose="020B0503030204020804" pitchFamily="34" charset="0"/>
              </a:rPr>
              <a:t>Best-or-tied F1-macro across both the cross-validation benchmark and an independent validation set it never trained on, with the fastest inference and a consistent per-class profile — a defensible choice among a closely-matched top tier, backed by two separate evaluations rather than one.</a:t>
            </a:r>
            <a:endParaRPr lang="en-US" sz="1350" dirty="0">
              <a:latin typeface="Biome" panose="020B05030302040208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4617720"/>
            <a:ext cx="3429000" cy="1188720"/>
          </a:xfrm>
          <a:prstGeom prst="roundRect">
            <a:avLst>
              <a:gd name="adj" fmla="val 6154"/>
            </a:avLst>
          </a:prstGeom>
          <a:solidFill>
            <a:srgbClr val="263444"/>
          </a:solidFill>
          <a:ln/>
        </p:spPr>
        <p:txBody>
          <a:bodyPr/>
          <a:lstStyle/>
          <a:p>
            <a:endParaRPr lang="en-US" dirty="0">
              <a:latin typeface="Biome" panose="020B05030302040208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475488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A896"/>
                </a:solidFill>
                <a:latin typeface="Biome" panose="020B0503030204020804" pitchFamily="34" charset="0"/>
                <a:ea typeface="Cambria" pitchFamily="34" charset="-122"/>
                <a:cs typeface="Biome" panose="020B0503030204020804" pitchFamily="34" charset="0"/>
              </a:rPr>
              <a:t>0.621 / 0.623</a:t>
            </a:r>
            <a:endParaRPr lang="en-US" sz="2200" dirty="0">
              <a:latin typeface="Biome" panose="020B05030302040208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53035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BE"/>
                </a:solidFill>
                <a:latin typeface="Biome" panose="020B0503030204020804" pitchFamily="34" charset="0"/>
                <a:ea typeface="Calibri" pitchFamily="34" charset="-122"/>
                <a:cs typeface="Biome" panose="020B0503030204020804" pitchFamily="34" charset="0"/>
              </a:rPr>
              <a:t>F1-macro, CV &amp; validation</a:t>
            </a:r>
            <a:endParaRPr lang="en-US" sz="1100" dirty="0">
              <a:latin typeface="Biome" panose="020B05030302040208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434840" y="4617720"/>
            <a:ext cx="3429000" cy="1188720"/>
          </a:xfrm>
          <a:prstGeom prst="roundRect">
            <a:avLst>
              <a:gd name="adj" fmla="val 6154"/>
            </a:avLst>
          </a:prstGeom>
          <a:solidFill>
            <a:srgbClr val="263444"/>
          </a:solidFill>
          <a:ln/>
        </p:spPr>
        <p:txBody>
          <a:bodyPr/>
          <a:lstStyle/>
          <a:p>
            <a:endParaRPr lang="en-US" dirty="0">
              <a:latin typeface="Biome" panose="020B05030302040208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434840" y="475488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A896"/>
                </a:solidFill>
                <a:latin typeface="Biome" panose="020B0503030204020804" pitchFamily="34" charset="0"/>
                <a:ea typeface="Cambria" pitchFamily="34" charset="-122"/>
                <a:cs typeface="Biome" panose="020B0503030204020804" pitchFamily="34" charset="0"/>
              </a:rPr>
              <a:t>0.0008 ms</a:t>
            </a:r>
            <a:endParaRPr lang="en-US" sz="2200" dirty="0">
              <a:latin typeface="Biome" panose="020B05030302040208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434840" y="53035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BE"/>
                </a:solidFill>
                <a:latin typeface="Biome" panose="020B0503030204020804" pitchFamily="34" charset="0"/>
                <a:ea typeface="Calibri" pitchFamily="34" charset="-122"/>
                <a:cs typeface="Biome" panose="020B0503030204020804" pitchFamily="34" charset="0"/>
              </a:rPr>
              <a:t>inference per ticket</a:t>
            </a:r>
            <a:endParaRPr lang="en-US" sz="1100" dirty="0">
              <a:latin typeface="Biome" panose="020B05030302040208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046720" y="4617720"/>
            <a:ext cx="3429000" cy="1188720"/>
          </a:xfrm>
          <a:prstGeom prst="roundRect">
            <a:avLst>
              <a:gd name="adj" fmla="val 6154"/>
            </a:avLst>
          </a:prstGeom>
          <a:solidFill>
            <a:srgbClr val="263444"/>
          </a:solidFill>
          <a:ln/>
        </p:spPr>
        <p:txBody>
          <a:bodyPr/>
          <a:lstStyle/>
          <a:p>
            <a:endParaRPr lang="en-US" dirty="0">
              <a:latin typeface="Biome" panose="020B05030302040208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046720" y="475488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A896"/>
                </a:solidFill>
                <a:latin typeface="Biome" panose="020B0503030204020804" pitchFamily="34" charset="0"/>
                <a:ea typeface="Cambria" pitchFamily="34" charset="-122"/>
                <a:cs typeface="Biome" panose="020B0503030204020804" pitchFamily="34" charset="0"/>
              </a:rPr>
              <a:t>2 of 2</a:t>
            </a:r>
            <a:endParaRPr lang="en-US" sz="2200" dirty="0">
              <a:latin typeface="Biome" panose="020B05030302040208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046720" y="53035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BE"/>
                </a:solidFill>
                <a:latin typeface="Biome" panose="020B0503030204020804" pitchFamily="34" charset="0"/>
                <a:ea typeface="Calibri" pitchFamily="34" charset="-122"/>
                <a:cs typeface="Biome" panose="020B0503030204020804" pitchFamily="34" charset="0"/>
              </a:rPr>
              <a:t>evaluations led or tied</a:t>
            </a:r>
            <a:endParaRPr lang="en-US" sz="1100" dirty="0">
              <a:latin typeface="Biome" panose="020B05030302040208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4142</TotalTime>
  <Words>1129</Words>
  <Application>Microsoft Macintosh PowerPoint</Application>
  <PresentationFormat>Widescreen</PresentationFormat>
  <Paragraphs>182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Biome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Vikram  R</cp:lastModifiedBy>
  <cp:revision>5</cp:revision>
  <dcterms:created xsi:type="dcterms:W3CDTF">2026-07-24T17:28:48Z</dcterms:created>
  <dcterms:modified xsi:type="dcterms:W3CDTF">2026-07-27T14:34:32Z</dcterms:modified>
</cp:coreProperties>
</file>